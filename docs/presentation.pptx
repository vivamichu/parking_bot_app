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🅿️  Parking RAG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FE0F2"/>
                </a:solidFill>
                <a:latin typeface="Calibri"/>
              </a:rPr>
              <a:t>An intelligent assistant for parking info &amp; reservations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Stage 1 — RAG architecture · Vector DB · Guardrails · Evaluation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FD7F0"/>
                </a:solidFill>
                <a:latin typeface="Calibri"/>
              </a:rPr>
              <a:t>LangChain · LangGraph · Milvus Lite · SQLite · Presidio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Project Goal &amp; Stage 1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Chatbot that provides parking information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5A6B7B"/>
                </a:solidFill>
                <a:latin typeface="Calibri"/>
              </a:rPr>
              <a:t>–  General info, location, prices, hours, availability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Interactive reservation data collection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5A6B7B"/>
                </a:solidFill>
                <a:latin typeface="Calibri"/>
              </a:rPr>
              <a:t>–  Name, surname, car plate, reservation period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Built on Retrieval-Augmented Generation (RAG)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Prevent exposure of sensitive data (guardrails)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Evaluate the RAG system (accuracy + latency)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212080" cy="4206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Delivered in 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Working RAG chatbot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Vector DB + SQL data split (bonus)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3-layer data-protection guardrails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Evaluation report (Recall@K / Precision / MRR)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34 automated tests +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5074920"/>
            <a:ext cx="4663440" cy="457200"/>
          </a:xfrm>
          <a:prstGeom prst="round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HITL admin confirmation → later stages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502920"/>
          </a:xfrm>
          <a:prstGeom prst="roundRect">
            <a:avLst/>
          </a:prstGeom>
          <a:solidFill>
            <a:srgbClr val="22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Streamlit Chat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00400" cy="502920"/>
          </a:xfrm>
          <a:prstGeom prst="round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① Input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606040"/>
            <a:ext cx="3200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LangGraph Agent
(gpt-4o-mini)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892040"/>
            <a:ext cx="3200400" cy="502920"/>
          </a:xfrm>
          <a:prstGeom prst="round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② Output Guardrail (Presidio)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532120"/>
            <a:ext cx="32004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2461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A6B7B"/>
                </a:solidFill>
                <a:latin typeface="Calibri"/>
              </a:rPr>
              <a:t>Agent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611880"/>
            <a:ext cx="39319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search_parking_info → Milvus Lite (RAG)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069080"/>
            <a:ext cx="3931920" cy="38404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get_availability →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526280"/>
            <a:ext cx="3931920" cy="38404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get_working_hours → SQLite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983480"/>
            <a:ext cx="3931920" cy="38404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get_pricing →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5440680"/>
            <a:ext cx="3931920" cy="38404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make_reservation → validate + 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461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A6B7B"/>
                </a:solidFill>
                <a:latin typeface="Calibri"/>
              </a:rPr>
              <a:t>Data stores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11880"/>
            <a:ext cx="356616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Milvus Lite
(static knowledge — vectors)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389120"/>
            <a:ext cx="356616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SQLite
(dynamic — availability/hours/prices)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Flow: UI → input guard → agent (calls tools) → output guard →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Model — Static vs. Dynamic (Bonus)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STATIC → Vector DB (Milvus Lite)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Rarely changes; semantic search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General information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Parking details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Location &amp; directions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Booking process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Policies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32"/>
                </a:solidFill>
                <a:latin typeface="Calibri"/>
              </a:rPr>
              <a:t>DYNAMIC → SQL (SQLite)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Changes often; exact lookups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parking_spots (420 spaces, live status)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pricing (hourly / daily / monthly)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working_hours (gates, desk, car wash)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reservations (pending records)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Why split? Live prices/availability must never be stale or hallucinated — the LLM reads them from SQL, not from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Ingestion (offline)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560320" cy="5943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Load 6 .md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560320" cy="5943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Chunk (RecursiveSplitter)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2560320" cy="5943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691640"/>
            <a:ext cx="2560320" cy="5943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Store in Milvus 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Query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2057400" cy="685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063240"/>
            <a:ext cx="2057400" cy="685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Embed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063240"/>
            <a:ext cx="2057400" cy="685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Vector search (top-k)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063240"/>
            <a:ext cx="2057400" cy="685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Filter sensitive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063240"/>
            <a:ext cx="2057400" cy="685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 answers from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Embeddings: OpenAI text-embedding-3-small (default) OR local sentence-transformers (no API key) — pluggable backend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Milvus Lite: embedded vector DB (single local file, no server/Docker)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Sensitivity filter drops confidential chunks before they reach the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Guardrails — Data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① Sensitivity-filtered retrieval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A6B7B"/>
                </a:solidFill>
                <a:latin typeface="Calibri"/>
              </a:rPr>
              <a:t>–  Confidential KB docs never returned to users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② Input guardrail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A6B7B"/>
                </a:solidFill>
                <a:latin typeface="Calibri"/>
              </a:rPr>
              <a:t>–  Blocks prompt-injection &amp; confidential requests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③ Output guardrail — Microsoft Presidio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A6B7B"/>
                </a:solidFill>
                <a:latin typeface="Calibri"/>
              </a:rPr>
              <a:t>–  Pre-trained spaCy NER redacts leaked PII: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A6B7B"/>
                </a:solidFill>
                <a:latin typeface="Calibri"/>
              </a:rPr>
              <a:t>–  phone, email, IBAN, gate codes, cards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5A6B7B"/>
                </a:solidFill>
                <a:latin typeface="Calibri"/>
              </a:rPr>
              <a:t>–  Regex fallback if model unavailable</a:t>
            </a:r>
          </a:p>
        </p:txBody>
      </p:sp>
      <p:pic>
        <p:nvPicPr>
          <p:cNvPr id="7" name="Picture 6" descr="02_guardrail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Live: a confidential request is blocked before reaching the LLM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Evaluation — RAG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Retrieval accuracy (15 labelled questions)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737360"/>
            <a:ext cx="18288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Precision@K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18288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Recall@K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1828800" cy="502920"/>
          </a:xfrm>
          <a:prstGeom prst="rect">
            <a:avLst/>
          </a:prstGeom>
          <a:solidFill>
            <a:srgbClr val="F2F5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240280"/>
            <a:ext cx="1828800" cy="502920"/>
          </a:xfrm>
          <a:prstGeom prst="rect">
            <a:avLst/>
          </a:prstGeom>
          <a:solidFill>
            <a:srgbClr val="F2F5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0.867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240280"/>
            <a:ext cx="1828800" cy="502920"/>
          </a:xfrm>
          <a:prstGeom prst="rect">
            <a:avLst/>
          </a:prstGeom>
          <a:solidFill>
            <a:srgbClr val="F2F5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0.700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7432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0.600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7432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0.933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1828800" cy="502920"/>
          </a:xfrm>
          <a:prstGeom prst="rect">
            <a:avLst/>
          </a:prstGeom>
          <a:solidFill>
            <a:srgbClr val="F2F5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246120"/>
            <a:ext cx="1828800" cy="502920"/>
          </a:xfrm>
          <a:prstGeom prst="rect">
            <a:avLst/>
          </a:prstGeom>
          <a:solidFill>
            <a:srgbClr val="F2F5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0.467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246120"/>
            <a:ext cx="1828800" cy="502920"/>
          </a:xfrm>
          <a:prstGeom prst="rect">
            <a:avLst/>
          </a:prstGeom>
          <a:solidFill>
            <a:srgbClr val="F2F5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22B35"/>
                </a:solidFill>
              </a:rPr>
              <a:t>0.967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32"/>
                </a:solidFill>
                <a:latin typeface="Calibri"/>
              </a:rPr>
              <a:t>MRR: 0.911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B7B"/>
                </a:solidFill>
                <a:latin typeface="Calibri"/>
              </a:rPr>
              <a:t>Latency (retrieval): p50 ≈ 10 ms · p95 ≈ 394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37360"/>
            <a:ext cx="5212080" cy="38404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87451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How it's measured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774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22B35"/>
                </a:solidFill>
                <a:latin typeface="Calibri"/>
              </a:rPr>
              <a:t>•  Gold set maps each question → relevant docs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22B35"/>
                </a:solidFill>
                <a:latin typeface="Calibri"/>
              </a:rPr>
              <a:t>•  Precision@K / Recall@K / MRR computed per query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22B35"/>
                </a:solidFill>
                <a:latin typeface="Calibri"/>
              </a:rPr>
              <a:t>•  Latency timed per retrieval call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22B35"/>
                </a:solidFill>
                <a:latin typeface="Calibri"/>
              </a:rPr>
              <a:t>•  Reproducible: python -m evaluation.run_eval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22B35"/>
                </a:solidFill>
                <a:latin typeface="Calibri"/>
              </a:rPr>
              <a:t>•  Precision falls with K by design (1–2 relevant docs/question); Recall &amp; MRR are the headline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Testing, CI &amp; Reservations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Reservation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Agent collects: first name, last name, plate, period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Field validation (plate format, date ordering, names)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Checks a space of the type is free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Saves a PENDING reservation to SQLite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Admin confirmation deferred to Stage 2 (HITL)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Quality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34 pytest tests — ≥2 per module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Offline: LLM &amp; vector store mocked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GitHub Actions CI (Python 3.11 &amp; 3.12)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640080"/>
          </a:xfrm>
          <a:prstGeom prst="roundRect">
            <a:avLst/>
          </a:prstGeom>
          <a:solidFill>
            <a:srgbClr val="22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$ pytest  →  34 passed</a:t>
            </a:r>
          </a:p>
        </p:txBody>
      </p:sp>
      <p:pic>
        <p:nvPicPr>
          <p:cNvPr id="11" name="Picture 10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5212080" cy="39090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893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Calibri"/>
              </a:rPr>
              <a:t>Live UI — sidebar shows real free-space count from 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7F0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 Stack &amp; How to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Python 3.12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LangChain 1.x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73736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LangGraph 1.x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OpenAI gpt-4o-mini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73736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Milvus 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37744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Presidio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37744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37744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377440"/>
            <a:ext cx="214884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Run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11064240" cy="2194560"/>
          </a:xfrm>
          <a:prstGeom prst="rect">
            <a:avLst/>
          </a:prstGeom>
          <a:solidFill>
            <a:srgbClr val="22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500">
                <a:solidFill>
                  <a:srgbClr val="9CDCFE"/>
                </a:solidFill>
                <a:latin typeface="Consolas"/>
              </a:rPr>
              <a:t>pip install -r requirements.txt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python -m spacy download en_core_web_sm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cp .env.example .env      # add OPENAI_API_KEY (or EMBEDDING_PROVIDER=huggingface)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python -m parking_bot.ingest        # build vector index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streamlit run app.py                # launch the chatbot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pytest ; python -m evaluation.run_eval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