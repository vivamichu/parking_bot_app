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1E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🅿️  Astana Central Parking</a:t>
            </a:r>
          </a:p>
          <a:p>
            <a:pPr>
              <a:spcBef>
                <a:spcPts val="1000"/>
              </a:spcBef>
            </a:pPr>
            <a:r>
              <a:rPr sz="2600" b="1" i="0">
                <a:solidFill>
                  <a:srgbClr val="2E86DE"/>
                </a:solidFill>
                <a:latin typeface="Calibri"/>
              </a:rPr>
              <a:t>Stage 2 — Human-in-the-Loop Admin Approval</a:t>
            </a:r>
          </a:p>
          <a:p>
            <a:pPr>
              <a:spcBef>
                <a:spcPts val="1600"/>
              </a:spcBef>
            </a:pPr>
            <a:r>
              <a:rPr sz="1600" b="0" i="0">
                <a:solidFill>
                  <a:srgbClr val="F4F7FB"/>
                </a:solidFill>
                <a:latin typeface="Calibri"/>
              </a:rPr>
              <a:t>A second LangChain agent that escalates every reservation to a human administrator and returns the decision to the visitor.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5A6675"/>
                </a:solidFill>
                <a:latin typeface="Calibri"/>
              </a:rPr>
              <a:t>LangChain · LangGraph · FastAPI · Streamlit · Milvus Lite · SQLite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The problem &amp; the 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Stage 1 could take a booking — but nobody approved it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Reservations were created as PENDING with no human in the loop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Stage 2 goal: connect a human administrator for approval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Send a reservation request to an administrator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Receive an approve / reject decision back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Keep the visitor's chatbot and the admin in sync — automatically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Outcome: an automated system with a human decision-maker in the loop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Two agents, one shared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Agent 1 — Visitor chatbot (LangGraph ReAct, gpt-4o-mini)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RAG over the knowledge base + live SQLite tools + make_reservation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Guardrails: prompt-injection filter in, PII scrub out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Agent 2 — Admin agent (LangChain ReAct)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Tools: get_reservation_details, check_space_availability, apply_decision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Verifies a space is still free, then confirms or refuses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They communicate through SQLite — not direct calls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reservations table = request queue (a PENDING row = an escalation)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notifications table = reply channel (keyed to the visitor's session_id)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17220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A6675"/>
                </a:solidFill>
                <a:latin typeface="Calibri"/>
              </a:rPr>
              <a:t>FastAPI admin server is the human's window into the queue: GET /admin/ · POST /admin/decision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The reservation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1999427" cy="274320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E5A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82880"/>
          <a:lstStyle/>
          <a:p>
            <a:pPr algn="ctr"/>
            <a:r>
              <a:rPr sz="1500" b="1" i="0">
                <a:solidFill>
                  <a:srgbClr val="1E5A96"/>
                </a:solidFill>
                <a:latin typeface="Calibri"/>
              </a:rPr>
              <a:t>1  COLLECT</a:t>
            </a:r>
          </a:p>
          <a:p>
            <a:pPr>
              <a:spcBef>
                <a:spcPts val="800"/>
              </a:spcBef>
            </a:pPr>
            <a:r>
              <a:rPr sz="1200" b="0" i="0">
                <a:solidFill>
                  <a:srgbClr val="5A6675"/>
                </a:solidFill>
                <a:latin typeface="Calibri"/>
              </a:rPr>
              <a:t>Agent 1 gathers name, plate &amp; period, then validates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68107" y="2194560"/>
            <a:ext cx="1999427" cy="274320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E5A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82880"/>
          <a:lstStyle/>
          <a:p>
            <a:pPr algn="ctr"/>
            <a:r>
              <a:rPr sz="1500" b="1" i="0">
                <a:solidFill>
                  <a:srgbClr val="1E5A96"/>
                </a:solidFill>
                <a:latin typeface="Calibri"/>
              </a:rPr>
              <a:t>2  ESCALATE</a:t>
            </a:r>
          </a:p>
          <a:p>
            <a:pPr>
              <a:spcBef>
                <a:spcPts val="800"/>
              </a:spcBef>
            </a:pPr>
            <a:r>
              <a:rPr sz="1200" b="0" i="0">
                <a:solidFill>
                  <a:srgbClr val="5A6675"/>
                </a:solidFill>
                <a:latin typeface="Calibri"/>
              </a:rPr>
              <a:t>A PENDING row is written, tagged with the chat session_id.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96134" y="2194560"/>
            <a:ext cx="1999427" cy="274320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82880"/>
          <a:lstStyle/>
          <a:p>
            <a:pPr algn="ctr"/>
            <a:r>
              <a:rPr sz="1500" b="1" i="0">
                <a:solidFill>
                  <a:srgbClr val="2E86DE"/>
                </a:solidFill>
                <a:latin typeface="Calibri"/>
              </a:rPr>
              <a:t>3  REVIEW</a:t>
            </a:r>
          </a:p>
          <a:p>
            <a:pPr>
              <a:spcBef>
                <a:spcPts val="800"/>
              </a:spcBef>
            </a:pPr>
            <a:r>
              <a:rPr sz="1200" b="0" i="0">
                <a:solidFill>
                  <a:srgbClr val="5A6675"/>
                </a:solidFill>
                <a:latin typeface="Calibri"/>
              </a:rPr>
              <a:t>Admin opens the web page and clicks Approve / Reject.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24161" y="2194560"/>
            <a:ext cx="1999427" cy="274320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82880"/>
          <a:lstStyle/>
          <a:p>
            <a:pPr algn="ctr"/>
            <a:r>
              <a:rPr sz="1500" b="1" i="0">
                <a:solidFill>
                  <a:srgbClr val="2E86DE"/>
                </a:solidFill>
                <a:latin typeface="Calibri"/>
              </a:rPr>
              <a:t>4  DECIDE</a:t>
            </a:r>
          </a:p>
          <a:p>
            <a:pPr>
              <a:spcBef>
                <a:spcPts val="800"/>
              </a:spcBef>
            </a:pPr>
            <a:r>
              <a:rPr sz="1200" b="0" i="0">
                <a:solidFill>
                  <a:srgbClr val="5A6675"/>
                </a:solidFill>
                <a:latin typeface="Calibri"/>
              </a:rPr>
              <a:t>Agent 2 maps the decision → status and updates the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2188" y="2194560"/>
            <a:ext cx="1999427" cy="274320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82880"/>
          <a:lstStyle/>
          <a:p>
            <a:pPr algn="ctr"/>
            <a:r>
              <a:rPr sz="1500" b="1" i="0">
                <a:solidFill>
                  <a:srgbClr val="27AE60"/>
                </a:solidFill>
                <a:latin typeface="Calibri"/>
              </a:rPr>
              <a:t>5  NOTIFY</a:t>
            </a:r>
          </a:p>
          <a:p>
            <a:pPr>
              <a:spcBef>
                <a:spcPts val="800"/>
              </a:spcBef>
            </a:pPr>
            <a:r>
              <a:rPr sz="1200" b="0" i="0">
                <a:solidFill>
                  <a:srgbClr val="5A6675"/>
                </a:solidFill>
                <a:latin typeface="Calibri"/>
              </a:rPr>
              <a:t>The outbox is polled; the visitor sees CONFIRMED / REFUSED.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0B1F3A"/>
                </a:solidFill>
                <a:latin typeface="Calibri"/>
              </a:rPr>
              <a:t>Agents 1 and 2 never call each other — they cooperate through the shared SQLite store.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AGENT 1 — STREAMLIT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1 · Visitor books a space</a:t>
            </a:r>
          </a:p>
        </p:txBody>
      </p:sp>
      <p:pic>
        <p:nvPicPr>
          <p:cNvPr id="5" name="Picture 4" descr="Screenshot 2026-07-03 at 14.01.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5" y="1325880"/>
            <a:ext cx="7827264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1E5A96"/>
                </a:solidFill>
                <a:latin typeface="Calibri"/>
              </a:rPr>
              <a:t>The chatbot collects the details and replies: reservation is PENDING administrator confirmation.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AGENT 2 — FASTAPI ADMIN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2 · Administrator approves via REST</a:t>
            </a:r>
          </a:p>
        </p:txBody>
      </p:sp>
      <p:pic>
        <p:nvPicPr>
          <p:cNvPr id="5" name="Picture 4" descr="Screenshot 2026-07-03 at 14.01.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5" y="1325880"/>
            <a:ext cx="7827264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1E5A96"/>
                </a:solidFill>
                <a:latin typeface="Calibri"/>
              </a:rPr>
              <a:t>http://localhost:8600/admin/ lists the pending request with one-click Approve / Reject (uvicorn serving below).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ASYNC NOTIFICATION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3 · Decision returns to the visitor</a:t>
            </a:r>
          </a:p>
        </p:txBody>
      </p:sp>
      <p:pic>
        <p:nvPicPr>
          <p:cNvPr id="5" name="Picture 4" descr="Screenshot 2026-07-03 at 14.01.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5" y="1325880"/>
            <a:ext cx="7827264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1E5A96"/>
                </a:solidFill>
                <a:latin typeface="Calibri"/>
              </a:rPr>
              <a:t>The admin agent updates the status and pushes “Reservation #1 CONFIRMED” back into the visitor's chat.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TESTING ·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Engineering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50 automated pytest tests — ≥ 2 per module, fully offline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New: test_admin_agent (decision tools) &amp; test_admin_server (FastAPI TestClient)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LLM stubbed; isolated SQLite fixtures keep every test hermetic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CI/CD — GitHub Actions (.github/workflows/ci.yml)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Matrix on Python 3.11 &amp; 3.12; installs lean deps + spaCy model; runs pytest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Runs on every push and pull request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Robustness fixes surfaced along the way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Async notification no longer interrupted by the auto-refresh timer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python-multipart added so the admin form endpoint works in a clean env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A working two-agent, human-in-the-loop approval system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Visitor books → admin approves/rejects → visitor is notified, end to end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Reservation requests are generated and sent to the administrator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Responses are received and applied (confirmed / cancelled)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Communication between the two agents is maintained via the shared DB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Documented, tested, and continuously integrated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17220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A6675"/>
                </a:solidFill>
                <a:latin typeface="Calibri"/>
              </a:rPr>
              <a:t>Run:  uvicorn parking_bot.admin_server:app --port 8600   +   streamlit run app.py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