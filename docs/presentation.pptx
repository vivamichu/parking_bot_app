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1E5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🅿️  Astana Central Parking</a:t>
            </a:r>
          </a:p>
          <a:p>
            <a:pPr>
              <a:spcBef>
                <a:spcPts val="1000"/>
              </a:spcBef>
            </a:pPr>
            <a:r>
              <a:rPr sz="2600" b="1" i="0">
                <a:solidFill>
                  <a:srgbClr val="2E86DE"/>
                </a:solidFill>
                <a:latin typeface="Calibri"/>
              </a:rPr>
              <a:t>Stage 4 — Unified LangGraph Orchestration</a:t>
            </a:r>
          </a:p>
          <a:p>
            <a:pPr>
              <a:spcBef>
                <a:spcPts val="1600"/>
              </a:spcBef>
            </a:pPr>
            <a:r>
              <a:rPr sz="1600" b="0" i="0">
                <a:solidFill>
                  <a:srgbClr val="F4F7FB"/>
                </a:solidFill>
                <a:latin typeface="Calibri"/>
              </a:rPr>
              <a:t>One graph: user interaction → administrator approval (human-in-the-loop) → data recording (MCP).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5A6675"/>
                </a:solidFill>
                <a:latin typeface="Calibri"/>
              </a:rPr>
              <a:t>LangGraph · LangChain · MCP (FastMCP) · FastAPI · Streamlit · SQLite · Milvus Lite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2E86DE"/>
                </a:solidFill>
                <a:latin typeface="Calibri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From four stages to 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Stage 1 — RAG chatbot answers questions &amp; collects reservations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Stage 2 — a second agent escalates to a human admin (approve / reject)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Stage 3 — an MCP server records approved reservations to a file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Stage 4 — orchestrate all of it with ONE LangGraph graph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user_interaction → admin_approval (human-in-the-loop) → record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Seamless integration, stable operation, tested end-to-end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2E86DE"/>
                </a:solidFill>
                <a:latin typeface="Calibri"/>
              </a:rPr>
              <a:t>STAGE 4 · LANGGRAPH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The orchestration graph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24855" y="1225440"/>
            <a:ext cx="9541984" cy="5001480"/>
          </a:xfrm>
          <a:prstGeom prst="rect">
            <a:avLst/>
          </a:prstGeom>
          <a:noFill/>
          <a:ln w="12700">
            <a:solidFill>
              <a:srgbClr val="D0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855" y="1234440"/>
            <a:ext cx="9523984" cy="4983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1E5A96"/>
                </a:solidFill>
                <a:latin typeface="Calibri"/>
              </a:rPr>
              <a:t>One StateGraph, three core nodes — the exact structure the brief asks for.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2E86DE"/>
                </a:solidFill>
                <a:latin typeface="Calibri"/>
              </a:rPr>
              <a:t>ADMIN_APPROVAL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Human-in-the-loop, done properly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The graph literally pauses for the administrator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admin_approval calls LangGraph interrupt(payload)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invoke() returns with __interrupt__ — the reservation awaits a decision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A human decides via the admin UI (or API / test)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resume with Command(resume={'decision': 'approve'|'reject'})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interrupt() returns that value; the node applies status + notifies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Backed by a checkpointer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In-memory by default; a persistent saver lets another process resume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17220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1">
                <a:solidFill>
                  <a:srgbClr val="5A6675"/>
                </a:solidFill>
                <a:latin typeface="Calibri"/>
              </a:rPr>
              <a:t>start_pipeline(request) → pause  ·  resume_pipeline(thread_id, decision) → record / finalize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2E86DE"/>
                </a:solidFill>
                <a:latin typeface="Calibri"/>
              </a:rPr>
              <a:t>LIVE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The pipeline in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9007" y="1747026"/>
            <a:ext cx="11173680" cy="3958308"/>
          </a:xfrm>
          <a:prstGeom prst="rect">
            <a:avLst/>
          </a:prstGeom>
          <a:noFill/>
          <a:ln w="12700">
            <a:solidFill>
              <a:srgbClr val="D0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_orchestrator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756026"/>
            <a:ext cx="11155680" cy="39403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1E5A96"/>
                </a:solidFill>
                <a:latin typeface="Calibri"/>
              </a:rPr>
              <a:t>python -m parking_bot.orchestrator — approve records the line; reject is refused.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2E86DE"/>
                </a:solidFill>
                <a:latin typeface="Calibri"/>
              </a:rP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Integration &amp; load tests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3158" y="1225440"/>
            <a:ext cx="10365378" cy="5001480"/>
          </a:xfrm>
          <a:prstGeom prst="rect">
            <a:avLst/>
          </a:prstGeom>
          <a:noFill/>
          <a:ln w="12700">
            <a:solidFill>
              <a:srgbClr val="D0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_te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158" y="1234440"/>
            <a:ext cx="10347378" cy="4983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1E5A96"/>
                </a:solidFill>
                <a:latin typeface="Calibri"/>
              </a:rPr>
              <a:t>Whole-graph integration tests + concurrency load tests — 77 passed.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2E86DE"/>
                </a:solidFill>
                <a:latin typeface="Calibri"/>
              </a:rP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Load testing — per component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9007" y="1912990"/>
            <a:ext cx="11173680" cy="3626380"/>
          </a:xfrm>
          <a:prstGeom prst="rect">
            <a:avLst/>
          </a:prstGeom>
          <a:noFill/>
          <a:ln w="12700">
            <a:solidFill>
              <a:srgbClr val="D0D7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_load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921990"/>
            <a:ext cx="11155680" cy="36083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1E5A96"/>
                </a:solidFill>
                <a:latin typeface="Calibri"/>
              </a:rPr>
              <a:t>scripts/load_test.py — throughput &amp; latency per component, zero errors under load.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2E86DE"/>
                </a:solidFill>
                <a:latin typeface="Calibri"/>
              </a:rPr>
              <a:t>TESTING ·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Engineering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77 pytest tests — ≥ 2 per module, fully offline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Integration: the whole graph (nodes, interrupt, approve, reject, invalid)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Load/concurrency: lossless store appends, concurrent DB inserts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Live MCP client↔server round-trip; fail-closed auth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Reliability hardening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SQLite busy_timeout; MCP direct-write fallback; MCP off in tests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CI/CD — GitHub Actions, Python 3.11 &amp; 3.12, every push/PR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2E86DE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A unified system where all components interact seamlessly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One LangGraph pipeline: interaction → approval (HITL) → recording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Stable operation of the entire pipeline</a:t>
            </a:r>
          </a:p>
          <a:p>
            <a:pPr lvl="1">
              <a:spcAft>
                <a:spcPts val="300"/>
              </a:spcAft>
            </a:pPr>
            <a:r>
              <a:rPr sz="1600" b="1" i="0">
                <a:solidFill>
                  <a:srgbClr val="1E5A96"/>
                </a:solidFill>
                <a:latin typeface="Calibri"/>
              </a:rPr>
              <a:t>• </a:t>
            </a:r>
            <a:r>
              <a:rPr sz="1500" b="0" i="0">
                <a:solidFill>
                  <a:srgbClr val="5A6675"/>
                </a:solidFill>
                <a:latin typeface="Calibri"/>
              </a:rPr>
              <a:t>Load-tested per component; integration-tested end-to-end</a:t>
            </a:r>
          </a:p>
          <a:p>
            <a:pPr>
              <a:spcAft>
                <a:spcPts val="700"/>
              </a:spcAft>
            </a:pPr>
            <a:r>
              <a:rPr sz="1600" b="1" i="0">
                <a:solidFill>
                  <a:srgbClr val="2E86DE"/>
                </a:solidFill>
                <a:latin typeface="Calibri"/>
              </a:rPr>
              <a:t>▸ </a:t>
            </a:r>
            <a:r>
              <a:rPr sz="1700" b="1" i="0">
                <a:solidFill>
                  <a:srgbClr val="0B1F3A"/>
                </a:solidFill>
                <a:latin typeface="Calibri"/>
              </a:rPr>
              <a:t>Documented (README + ARCHITECTURE.md), tested (77), CI on every push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17220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1">
                <a:solidFill>
                  <a:srgbClr val="5A6675"/>
                </a:solidFill>
                <a:latin typeface="Calibri"/>
              </a:rPr>
              <a:t>Demo: python -m parking_bot.orchestrator   ·   Services: mcp_server + admin_server + streamlit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